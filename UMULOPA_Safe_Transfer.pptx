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640080"/>
            <a:ext cx="1280160" cy="1280160"/>
          </a:xfrm>
          <a:prstGeom prst="ellipse">
            <a:avLst/>
          </a:prstGeom>
          <a:solidFill>
            <a:srgbClr val="A52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411480"/>
            <a:ext cx="640080" cy="457200"/>
          </a:xfrm>
          <a:prstGeom prst="diamond">
            <a:avLst/>
          </a:prstGeom>
          <a:solidFill>
            <a:srgbClr val="A52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658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🩸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UMULOPA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3716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B3B3"/>
                </a:solidFill>
              </a:rPr>
              <a:t>Safe Transfer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" y="2880360"/>
            <a:ext cx="3200400" cy="18288"/>
          </a:xfrm>
          <a:prstGeom prst="rect">
            <a:avLst/>
          </a:prstGeom>
          <a:solidFill>
            <a:srgbClr val="FFB3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0D0"/>
                </a:solidFill>
              </a:rPr>
              <a:t>ZNBTS Copperbelt Network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005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Digital Blood Cold-Chain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Logistics &amp; Transfusion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Management Ecosystem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49040" y="2743200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🏥  9 Copperbelt Hospitals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3154680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620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🩸  Real-Time Blood Inventory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3566160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🔗  Full Chain-of-Custody Audit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3977640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620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📊  Ministry-Grade PDF Reports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C0"/>
                </a:solidFill>
              </a:rPr>
              <a:t>Presentation for ZNBTS Executive Inspection &amp; Engineering Handover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</a:rPr>
              <a:t>System Vision &amp;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ZNBTS Kitwe Blood Centre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2C0"/>
                </a:solidFill>
              </a:rPr>
              <a:t>Regional headquarters — central stock, emergency allocation, province-wide oversight.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1–3 Hospitals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2C0"/>
                </a:solidFill>
              </a:rPr>
              <a:t>Ndola &amp; Kitwe Teaching Hospitals, District &amp; Mission facilities all connected in real-time.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👩‍⚕️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Clinical Staff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74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2C0"/>
                </a:solidFill>
              </a:rPr>
              <a:t>Blood Bank Officers, Medical Officers, Nurses — each with scoped access to their facility.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97180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Voluntary Donors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474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B2C0"/>
                </a:solidFill>
              </a:rPr>
              <a:t>8-week interval tracking, appointment booking &amp; emergency mobilization alerts.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🩸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Donor Community Layer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DD8E8"/>
                </a:solidFill>
              </a:rPr>
              <a:t>Appointment Engine · Emergency Alerts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04288" y="2468880"/>
            <a:ext cx="1828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4173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55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 Clinical Layer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DD8E8"/>
                </a:solidFill>
              </a:rPr>
              <a:t>Patient Records · Blood Bank · Escalation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3128" y="2468880"/>
            <a:ext cx="1828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4173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ZNBTS Regional Control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DD8E8"/>
                </a:solidFill>
              </a:rPr>
              <a:t>Central Inventory · Emergency Dispatch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01968" y="2468880"/>
            <a:ext cx="1828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41732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 Control Centre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DD8E8"/>
                </a:solidFill>
              </a:rPr>
              <a:t>RBAC · Capability Matrix · Audit Logs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560"/>
                </a:solidFill>
              </a:rPr>
              <a:t>4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System Roles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1460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560"/>
                </a:solidFill>
              </a:rPr>
              <a:t>8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Blood Groups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560"/>
                </a:solidFill>
              </a:rPr>
              <a:t>6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Blood-Service Capabilities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560"/>
                </a:solidFill>
              </a:rPr>
              <a:t>6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Core Workflows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</a:rPr>
              <a:t>Role-Based Access Control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System Administrator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246888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300"/>
                </a:solidFill>
              </a:rPr>
              <a:t>Province-Wide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834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User creation &amp; suspension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Hospital approval &amp; capability grants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System backup &amp; audit logs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4069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Security governance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23744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23744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523744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Regional Blood Centre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98064" y="246888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98064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300"/>
                </a:solidFill>
              </a:rPr>
              <a:t>Copperbelt Region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24912" y="289864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71216" y="2834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Central stock allocation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24912" y="33101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71216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Emergency request approval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24912" y="372160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71216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Inter-hospital dispatch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24912" y="413308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71216" y="4069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Regional analytics &amp; reporting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0016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0016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4700016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Hospital Staff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74336" y="246888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74336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300"/>
                </a:solidFill>
              </a:rPr>
              <a:t>Own Facility Only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01184" y="289864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47488" y="2834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Patient record creation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01184" y="33101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47488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Blood request submission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01184" y="372160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47488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Transfusion recording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01184" y="413308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47488" y="4069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Delivery receipt verification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76288" y="1325880"/>
            <a:ext cx="2011680" cy="3520440"/>
          </a:xfrm>
          <a:prstGeom prst="roundRect">
            <a:avLst>
              <a:gd name="adj" fmla="val 3636"/>
            </a:avLst>
          </a:prstGeom>
          <a:solidFill>
            <a:srgbClr val="9240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76288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6876288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Blood Donor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150608" y="246888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50608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C300"/>
                </a:solidFill>
              </a:rPr>
              <a:t>Own Donor ID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77456" y="289864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23760" y="2834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Appointment booking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77456" y="33101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22376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Donation history view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77456" y="372160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2376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8-week eligibility check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77456" y="413308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223760" y="4069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Emergency mobilization response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GOVERNANCE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Hospital Capability Control Framework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2C0"/>
                </a:solidFill>
              </a:rPr>
              <a:t>Registering a hospital NEVER automatically grants blood processing authority.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8B2C0"/>
                </a:solidFill>
              </a:rPr>
              <a:t>ZNBTS administrators explicitly grant or revoke each capability after clinical inspection.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Blood Collection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231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B2C0"/>
                </a:solidFill>
              </a:rPr>
              <a:t>Unlocks donor collection recording. Requires trained phlebotomy, sterile bags, screening protocols.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Testing / Screening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231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B2C0"/>
                </a:solidFill>
              </a:rPr>
              <a:t>Allows clearing blood lots. Must screen for HIV, HBV, HCV, Syphilis and ABO/Rh grouping.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❄️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Blood Storage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231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B2C0"/>
                </a:solidFill>
              </a:rPr>
              <a:t>Permits holding stock balances. Requires 2–6 °C refrigerators with backup generator power.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Component Processing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8404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B2C0"/>
                </a:solidFill>
              </a:rPr>
              <a:t>Enables PRBC, FFP, Platelet separation. Requires refrigerated centrifuge equipment.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Crossmatching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8404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B2C0"/>
                </a:solidFill>
              </a:rPr>
              <a:t>Serological compatibility verification before issue. Prevents fatal hemolytic reactions.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Blood Issue / Release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8404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B2C0"/>
                </a:solidFill>
              </a:rPr>
              <a:t>Authorizes clinical transfusion administration in wards, theatres and emergency units.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WORKFLOWS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</a:rPr>
              <a:t>6 Core Operational Workflows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572768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Donor Registration &amp; 8-Week Tracking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Profile setup, appointment scheduling, automatic eligibility calculation, emergency mobilization.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1572768"/>
            <a:ext cx="530352" cy="5303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9472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Patient Registration &amp; Blood Request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783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Clinician creates request, system checks local stock, escalates to ZNBTS if insufficient.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1605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807208"/>
            <a:ext cx="530352" cy="5303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Regional Escalation &amp; Allocation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17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Escalated requests appear on ZNBTS dashboard; officer reviews province-wide stock and approves.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1605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2807208"/>
            <a:ext cx="530352" cy="530352"/>
          </a:xfrm>
          <a:prstGeom prst="ellipse">
            <a:avLst/>
          </a:prstGeom>
          <a:solidFill>
            <a:srgbClr val="6B21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19472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2-Step Chain-of-Custody Dispatch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017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Dispatch stamps departure time; hospital "Verify Delivery" stamps arrival and credits local stock.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41605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041648"/>
            <a:ext cx="530352" cy="53035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" y="4041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86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FEFO Blood Bank Management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251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First-Expired, First-Out lot priority. Daily auto-reconciliation quarantines expired units.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16052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4041648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19472" y="40416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3886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Inter-Hospital Peer Transfer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4251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Adjacent hospitals share stock directly during emergencies before ZNBTS dispatch arrives.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WORKFLOW 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2-Step Chain-of-Custody Dispatch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463040"/>
            <a:ext cx="822960" cy="82296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300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🏛️ ZNBTS Logistics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61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300"/>
                </a:solidFill>
              </a:rPr>
              <a:t>Click "Dispatch Transfer"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3300984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Deducts units from ZNBTS central stock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3648456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Status set → "In Transit"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39959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Stamps dispatch time &amp; officer 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4343400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Transfer appears in hospital panel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32588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6B21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6908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⟶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❄️ Cold-Chain Transport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761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300"/>
                </a:solidFill>
              </a:rPr>
              <a:t>Physical courier with temperature-controlled container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47288" y="3300984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93592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Blood units maintained at 2–6°C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47288" y="3648456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93592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Transfer record visible to both parties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47288" y="39959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9359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Hospital awaiting delivery confirmation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47288" y="4343400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93592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ZNBTS monitoring transit status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132588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1463040"/>
            <a:ext cx="822960" cy="82296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300"/>
                </a:solidFill>
              </a:rPr>
              <a:t>02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Hospital Staff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2761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300"/>
                </a:solidFill>
              </a:rPr>
              <a:t>Click "Verify Delivery Receipt"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73368" y="3300984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Credits units to hospital local stock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73368" y="3648456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19672" y="3593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Status set → "Delivered"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73368" y="3995928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1967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Stamps arrival time &amp; receiver 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73368" y="4343400"/>
            <a:ext cx="91440" cy="9144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19672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Audit log entry created automatically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LOGIC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</a:rPr>
              <a:t>Clinical Intelligence Built In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</a:rPr>
              <a:t>❄️  FEFO Blood Bank Management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First-Expired, First-Out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 Priority = sort_ascending(ExpiryDate)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FFC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65176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8308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Available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265176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17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Reserved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09067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00BF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Issued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3090672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3080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Expired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2C0"/>
                </a:solidFill>
              </a:rPr>
              <a:t>Daily background reconciliation automatically quarantines lots past their safety shelf life and updates network stock across all facilities.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</a:rPr>
              <a:t>🩸  Donor 8-Week Interval Tracking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Eligibility Formula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Eligible = Last Donation + 56 Days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&lt; 56 days elapsed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26974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INELIGIBLE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9992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Amber badge: shows exact wait days remaining.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≥ 56 days elapsed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56616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ELIGIBLE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8679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Green badge: donor may book appointment.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O+ / O- Critical Request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443484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20840" y="4434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ALERT SENT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7365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2C0"/>
                </a:solidFill>
              </a:rPr>
              <a:t>Matching donors receive emergency mobilization.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OPERATIONS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 Notifications &amp; Official Reporting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</a:rPr>
              <a:t>🔔  Real-Time Notification 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749040" cy="411480"/>
          </a:xfrm>
          <a:prstGeom prst="roundRect">
            <a:avLst>
              <a:gd name="adj" fmla="val 8889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38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🔴  3 critical blood request(s) active in system state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3749040" cy="411480"/>
          </a:xfrm>
          <a:prstGeom prst="roundRect">
            <a:avLst>
              <a:gd name="adj" fmla="val 8889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59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⚠️  2 blood unit lot(s) have reached expiration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962656"/>
            <a:ext cx="3749040" cy="411480"/>
          </a:xfrm>
          <a:prstGeom prst="roundRect">
            <a:avLst>
              <a:gd name="adj" fmla="val 8889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✅  Transfer TRF-8492: 5 Units O+ dispatched to Ndola Teaching Hospital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3749040" cy="411480"/>
          </a:xfrm>
          <a:prstGeom prst="roundRect">
            <a:avLst>
              <a:gd name="adj" fmla="val 8889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02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🏥  Kafue Riverside Hospital — capabilities approved by admin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3749040" cy="411480"/>
          </a:xfrm>
          <a:prstGeom prst="roundRect">
            <a:avLst>
              <a:gd name="adj" fmla="val 8889"/>
            </a:avLst>
          </a:prstGeom>
          <a:solidFill>
            <a:srgbClr val="0C23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🚨  Emergency: Amina Mwansa escalated to ZNBTS Kitwe Blood Centre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298448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444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</a:rPr>
              <a:t>📊  Official PDF &amp; Excel Reports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9202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ZAMBIA NATIONAL BLOOD TRANSFUSION SERVICE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854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UMULOPA Safe Transfer — Copperbelt Province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5059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7157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Report:    Weekly Blood Distribution Audit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9809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Facility:  ZNBTS Kitwe Blood Centre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2461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Generated: 27/08/2026  17:15:21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5112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794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</a:rPr>
              <a:t>Date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3794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</a:rPr>
              <a:t>Hospital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7947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</a:rPr>
              <a:t>Grp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443216" y="37947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</a:rPr>
              <a:t>Units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891272" y="37947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00"/>
                </a:solidFill>
              </a:rPr>
              <a:t>Status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05079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2026-08-27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40507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Ndola Teaching Hospital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05079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O+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443216" y="405079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5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891272" y="405079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Delivered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43251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2026-08-27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43251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Kitwe Teaching Hospital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432511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A-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443216" y="43251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2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891272" y="43251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2C0"/>
                </a:solidFill>
              </a:rPr>
              <a:t>In Transit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8B2C0"/>
                </a:solidFill>
              </a:rPr>
              <a:t>Exportable as Ministry-of-Health branded PDF or Excel. Includes official headers, timestamps, page numbers, and facility scope.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ENGINEERING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Enterprise-Grade Frontend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36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Static Lazy Imports (App.jsx)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All page components pre-declared at module scope. Prevents React unmounting and re-suspending routes on re-renders — critical for high-frequency clinical use.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55448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536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Context-Local Suspense (Layout.jsx)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Suspense boundaries wrap only the content pane &lt;Outlet /&gt;. Sidebar and header remain rendered and responsive at all times — no full-page loading flicker.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5F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82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</a:rPr>
              <a:t>Persistent BroadcastChannel Sync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03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State listeners persist across component lifecycles in AppStateProvider.jsx — eliminating memory leaks during rapid cross-tab state broadcasts.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200400"/>
            <a:ext cx="685800" cy="6858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182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21A8"/>
                </a:solidFill>
              </a:rPr>
              <a:t>Normalized Data Structures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703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Records indexed with strict keys (facilityId, hospitalId, patientId, timestamp). Frontend is 100% plug-and-play with PostgreSQL / MySQL REST or GraphQL backends.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EXECUTIVE QA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Stakeholder Q&amp;A — Bulletproof Answers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27048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371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Can a hospital collect blood without ZNBTS approval?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70992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▶  No. ZNBTS Capability Control enforces this. If the admin hasn't granted collection authority, the hospital's collection form is locked — no exceptions.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59736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0428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if a critical emergency occurs and ZNBTS is far away?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642616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▶  The Nearby Hospital Peer Transfer workflow allows Ndola Teaching Hospital to request emergency stock directly from Kitwe Teaching Hospital as contingency.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91256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92424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23697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How do we prevent transfusing expired blood bags?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575304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▶  FEFO enforcement: the software automatically picks the earliest-expiring cleared lot. Expired units are auto-quarantined daily — staff cannot manually select expired bags.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23944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325112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169664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Can we produce reports for Ministry of Health audits?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50799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0"/>
                </a:solidFill>
              </a:rPr>
              <a:t>▶  Yes. One click generates Ministry-branded PDF or Excel documents with official ZNBTS headers, facility scope, timestamps, and auto-numbered pages.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B2C0"/>
                </a:solidFill>
              </a:rPr>
              <a:t>UMULOPA Safe Transfer — ZNBTS Copperbelt Network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0" y="11887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🩸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UMULOPA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B3B3"/>
                </a:solidFill>
              </a:rPr>
              <a:t>Safe Transfer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0D0"/>
                </a:solidFill>
              </a:rPr>
              <a:t>ZNBTS Copperbelt Network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Transforming Blood Safety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Across Zambia's Copperbelt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FA6"/>
                </a:solidFill>
              </a:rPr>
              <a:t>✓  Real-time province-wide blood inventory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0"/>
                </a:solidFill>
              </a:rPr>
              <a:t>✓  100% chain-of-custody audit trail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540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0"/>
                </a:solidFill>
              </a:rPr>
              <a:t>✓  Enforced ZNBTS capability governance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381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0"/>
                </a:solidFill>
              </a:rPr>
              <a:t>✓  FEFO automatic lot management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22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0"/>
                </a:solidFill>
              </a:rPr>
              <a:t>✓  Ministry-grade PDF &amp; Excel reporting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0"/>
                </a:solidFill>
              </a:rPr>
              <a:t>✓  Enterprise-ready scalable architecture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2C0"/>
                </a:solidFill>
              </a:rPr>
              <a:t>Thank you — Ready for Questions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2026-08-27T22:07:15Z</dcterms:created>
  <dcterms:modified xsi:type="dcterms:W3CDTF">2026-08-27T22:07:15Z</dcterms:modified>
</cp:coreProperties>
</file>